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</c:v>
                </c:pt>
              </c:strCache>
            </c:strRef>
          </c:tx>
          <c:spPr>
            <a:solidFill>
              <a:srgbClr val="8A949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F2A4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4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Shipped model τ = 0.29</c:v>
                  </c:pt>
                  <c:pt idx="1">
                    <c:v>Self-calibrated (label-free)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0.791</c:v>
                </c:pt>
                <c:pt idx="1">
                  <c:v>0.8256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400" u="none">
                  <a:solidFill>
                    <a:srgbClr val="0F2A4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4C5A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6"/>
          <c:min val="0.7"/>
        </c:scaling>
        <c:delete val="0"/>
        <c:axPos val="l"/>
        <c:majorGridlines>
          <c:spPr>
            <a:ln w="12700" cap="flat">
              <a:solidFill>
                <a:srgbClr val="EDEF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BA vs 1 donor</c:v>
                </c:pt>
              </c:strCache>
            </c:strRef>
          </c:tx>
          <c:spPr>
            <a:solidFill>
              <a:srgbClr val="0E7C86"/>
            </a:solidFill>
            <a:ln w="41275" cap="flat">
              <a:solidFill>
                <a:srgbClr val="0E7C8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40</c:v>
                  </c:pt>
                  <c:pt idx="7">
                    <c:v>70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0.0325</c:v>
                </c:pt>
                <c:pt idx="2">
                  <c:v>0.0268</c:v>
                </c:pt>
                <c:pt idx="3">
                  <c:v>0.036</c:v>
                </c:pt>
                <c:pt idx="4">
                  <c:v>0.0442</c:v>
                </c:pt>
                <c:pt idx="5">
                  <c:v>0.0472</c:v>
                </c:pt>
                <c:pt idx="6">
                  <c:v>0.0489</c:v>
                </c:pt>
                <c:pt idx="7">
                  <c:v>0.0479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A949E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8A949E"/>
                    </a:solidFill>
                    <a:latin typeface="Calibri"/>
                  </a:rPr>
                  <a:t>devices pooled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C5A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6"/>
          <c:min val="0"/>
        </c:scaling>
        <c:delete val="0"/>
        <c:axPos val="l"/>
        <c:majorGridlines>
          <c:spPr>
            <a:ln w="12700" cap="flat">
              <a:solidFill>
                <a:srgbClr val="EDEF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A949E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8A949E"/>
                    </a:solidFill>
                    <a:latin typeface="Calibri"/>
                  </a:rPr>
                  <a:t>Δ BA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Product-style opener. Lead with three proven wins: label-free +0.035 BA gain, tiny on-MCU cost, and a live on-board LCD dashboard. Research prototype, not clinical.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Four proven wins plus a forward-looking roadmap. Deployable edge path. Not clinical.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5236078"/>
            <a:ext cx="146304" cy="110876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146304" y="5153638"/>
            <a:ext cx="146304" cy="82440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292608" y="5120777"/>
            <a:ext cx="146304" cy="32861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5120777"/>
            <a:ext cx="146304" cy="427345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5548122"/>
            <a:ext cx="146304" cy="0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731520" y="5331217"/>
            <a:ext cx="146304" cy="216905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5331217"/>
            <a:ext cx="146304" cy="112626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5443843"/>
            <a:ext cx="146304" cy="87777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70432" y="5531620"/>
            <a:ext cx="146304" cy="40416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316736" y="5554726"/>
            <a:ext cx="146304" cy="17310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463040" y="5484130"/>
            <a:ext cx="146304" cy="70597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609344" y="5378352"/>
            <a:ext cx="146304" cy="105778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755648" y="5264522"/>
            <a:ext cx="146304" cy="113830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901952" y="5171833"/>
            <a:ext cx="146304" cy="92689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048256" y="5124057"/>
            <a:ext cx="146304" cy="47776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5124057"/>
            <a:ext cx="146304" cy="9390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40864" y="5133446"/>
            <a:ext cx="146304" cy="414676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2487168" y="5300047"/>
            <a:ext cx="146304" cy="248075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33472" y="5300047"/>
            <a:ext cx="146304" cy="114484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79776" y="5414531"/>
            <a:ext cx="146304" cy="97152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0" y="5511683"/>
            <a:ext cx="146304" cy="54905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3072384" y="5565164"/>
            <a:ext cx="146304" cy="1424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3218688" y="5507776"/>
            <a:ext cx="146304" cy="57388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3364992" y="5409143"/>
            <a:ext cx="146304" cy="98633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511296" y="5294560"/>
            <a:ext cx="146304" cy="114583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3657600" y="5193415"/>
            <a:ext cx="146304" cy="101145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3803904" y="5131647"/>
            <a:ext cx="146304" cy="61768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3950208" y="5125099"/>
            <a:ext cx="146304" cy="6548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96512" y="5125099"/>
            <a:ext cx="146304" cy="423023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42816" y="5548122"/>
            <a:ext cx="146304" cy="0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4389120" y="5383912"/>
            <a:ext cx="146304" cy="164210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35424" y="5383912"/>
            <a:ext cx="146304" cy="104649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81728" y="5488560"/>
            <a:ext cx="146304" cy="68331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28032" y="5556891"/>
            <a:ext cx="146304" cy="14489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4974336" y="5528312"/>
            <a:ext cx="146304" cy="43069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5120640" y="5438731"/>
            <a:ext cx="146304" cy="89581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5266944" y="5325612"/>
            <a:ext cx="146304" cy="113119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5413248" y="5217967"/>
            <a:ext cx="146304" cy="107645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5559552" y="5143402"/>
            <a:ext cx="146304" cy="74564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5705856" y="5121042"/>
            <a:ext cx="146304" cy="22360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52160" y="5121042"/>
            <a:ext cx="146304" cy="427080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98464" y="5548122"/>
            <a:ext cx="146304" cy="0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6144768" y="5352578"/>
            <a:ext cx="146304" cy="195544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91072" y="5352578"/>
            <a:ext cx="146304" cy="110121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37376" y="5462698"/>
            <a:ext cx="146304" cy="80436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0" y="5543135"/>
            <a:ext cx="146304" cy="30122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6729984" y="5545340"/>
            <a:ext cx="146304" cy="27917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6876288" y="5466543"/>
            <a:ext cx="146304" cy="78796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7022592" y="5357076"/>
            <a:ext cx="146304" cy="109467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7168896" y="5245013"/>
            <a:ext cx="146304" cy="112063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7315200" y="5159094"/>
            <a:ext cx="146304" cy="85919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7461504" y="5121355"/>
            <a:ext cx="146304" cy="37739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07808" y="5121355"/>
            <a:ext cx="146304" cy="426767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54112" y="5548122"/>
            <a:ext cx="146304" cy="0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7900416" y="5321135"/>
            <a:ext cx="146304" cy="226987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46720" y="5321135"/>
            <a:ext cx="146304" cy="113463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93024" y="5434598"/>
            <a:ext cx="146304" cy="90985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39328" y="5525583"/>
            <a:ext cx="146304" cy="45173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8485632" y="5558531"/>
            <a:ext cx="146304" cy="12225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8631936" y="5492043"/>
            <a:ext cx="146304" cy="66488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8778240" y="5388345"/>
            <a:ext cx="146304" cy="103698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8924544" y="5274031"/>
            <a:ext cx="146304" cy="114314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9070848" y="5178420"/>
            <a:ext cx="146304" cy="95611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9217152" y="5126032"/>
            <a:ext cx="146304" cy="52388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363456" y="5126032"/>
            <a:ext cx="146304" cy="4271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509760" y="5130303"/>
            <a:ext cx="146304" cy="417819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656064" y="5548122"/>
            <a:ext cx="146304" cy="0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9802368" y="5404803"/>
            <a:ext cx="146304" cy="143319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948672" y="5404803"/>
            <a:ext cx="146304" cy="99775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94976" y="5504577"/>
            <a:ext cx="146304" cy="59349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241280" y="5563927"/>
            <a:ext cx="146304" cy="3703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10387584" y="5514737"/>
            <a:ext cx="146304" cy="52893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10533888" y="5418813"/>
            <a:ext cx="146304" cy="95924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10680192" y="5304460"/>
            <a:ext cx="146304" cy="114353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10826496" y="5201005"/>
            <a:ext cx="146304" cy="103455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10972800" y="5134981"/>
            <a:ext cx="146304" cy="66024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11119104" y="5123322"/>
            <a:ext cx="146304" cy="11660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265408" y="5123322"/>
            <a:ext cx="146304" cy="424800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411712" y="5548122"/>
            <a:ext cx="146304" cy="0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11558016" y="5373888"/>
            <a:ext cx="146304" cy="174234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704320" y="5373888"/>
            <a:ext cx="146304" cy="106634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850624" y="5480523"/>
            <a:ext cx="146304" cy="72378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996928" y="5552901"/>
            <a:ext cx="146304" cy="19560"/>
          </a:xfrm>
          <a:prstGeom prst="line">
            <a:avLst/>
          </a:prstGeom>
          <a:noFill/>
          <a:ln w="19050">
            <a:solidFill>
              <a:srgbClr val="13A39B">
                <a:alpha val="3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0" y="5742740"/>
            <a:ext cx="146304" cy="70558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146304" y="5690279"/>
            <a:ext cx="146304" cy="52462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292608" y="5669367"/>
            <a:ext cx="146304" cy="20911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38912" y="5669367"/>
            <a:ext cx="146304" cy="271947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85216" y="5941314"/>
            <a:ext cx="146304" cy="0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731520" y="5803283"/>
            <a:ext cx="146304" cy="138031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5803283"/>
            <a:ext cx="146304" cy="71671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24128" y="5874954"/>
            <a:ext cx="146304" cy="55858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70432" y="5930813"/>
            <a:ext cx="146304" cy="25719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1316736" y="5945517"/>
            <a:ext cx="146304" cy="11015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1463040" y="5900592"/>
            <a:ext cx="146304" cy="44925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1609344" y="5833279"/>
            <a:ext cx="146304" cy="67313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1755648" y="5760841"/>
            <a:ext cx="146304" cy="72437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V="1">
            <a:off x="1901952" y="5701857"/>
            <a:ext cx="146304" cy="58984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2048256" y="5671454"/>
            <a:ext cx="146304" cy="30403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194560" y="5671454"/>
            <a:ext cx="146304" cy="5975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340864" y="5677429"/>
            <a:ext cx="146304" cy="263885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2487168" y="5783448"/>
            <a:ext cx="146304" cy="157866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633472" y="5783448"/>
            <a:ext cx="146304" cy="72853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779776" y="5856301"/>
            <a:ext cx="146304" cy="61824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926080" y="5918126"/>
            <a:ext cx="146304" cy="34939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3072384" y="5952159"/>
            <a:ext cx="146304" cy="906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3218688" y="5915639"/>
            <a:ext cx="146304" cy="36519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3364992" y="5852873"/>
            <a:ext cx="146304" cy="62767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3511296" y="5779956"/>
            <a:ext cx="146304" cy="72916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3657600" y="5715591"/>
            <a:ext cx="146304" cy="64365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3803904" y="5676285"/>
            <a:ext cx="146304" cy="39307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3950208" y="5672117"/>
            <a:ext cx="146304" cy="4167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096512" y="5672117"/>
            <a:ext cx="146304" cy="269197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242816" y="5941314"/>
            <a:ext cx="146304" cy="0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4389120" y="5836816"/>
            <a:ext cx="146304" cy="104498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535424" y="5836816"/>
            <a:ext cx="146304" cy="66595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681728" y="5903411"/>
            <a:ext cx="146304" cy="43484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828032" y="5946894"/>
            <a:ext cx="146304" cy="9220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4974336" y="5928707"/>
            <a:ext cx="146304" cy="27407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5120640" y="5871701"/>
            <a:ext cx="146304" cy="57006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5266944" y="5799717"/>
            <a:ext cx="146304" cy="71985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5413248" y="5731215"/>
            <a:ext cx="146304" cy="68502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V="1">
            <a:off x="5559552" y="5683765"/>
            <a:ext cx="146304" cy="47450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5705856" y="5669536"/>
            <a:ext cx="146304" cy="14229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852160" y="5669536"/>
            <a:ext cx="146304" cy="271778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998464" y="5941314"/>
            <a:ext cx="146304" cy="0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flipV="1">
            <a:off x="6144768" y="5816877"/>
            <a:ext cx="146304" cy="124437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291072" y="5816877"/>
            <a:ext cx="146304" cy="70077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437376" y="5886954"/>
            <a:ext cx="146304" cy="51187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583680" y="5938140"/>
            <a:ext cx="146304" cy="19169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flipV="1">
            <a:off x="6729984" y="5939544"/>
            <a:ext cx="146304" cy="17765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V="1">
            <a:off x="6876288" y="5889400"/>
            <a:ext cx="146304" cy="50143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7022592" y="5819739"/>
            <a:ext cx="146304" cy="69661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7168896" y="5748426"/>
            <a:ext cx="146304" cy="71313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7315200" y="5693751"/>
            <a:ext cx="146304" cy="54676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V="1">
            <a:off x="7461504" y="5669735"/>
            <a:ext cx="146304" cy="24016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607808" y="5669735"/>
            <a:ext cx="146304" cy="271579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754112" y="5941314"/>
            <a:ext cx="146304" cy="0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V="1">
            <a:off x="7900416" y="5796868"/>
            <a:ext cx="146304" cy="144446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046720" y="5796868"/>
            <a:ext cx="146304" cy="72204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193024" y="5869072"/>
            <a:ext cx="146304" cy="57900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339328" y="5926971"/>
            <a:ext cx="146304" cy="28746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flipV="1">
            <a:off x="8485632" y="5947938"/>
            <a:ext cx="146304" cy="7780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V="1">
            <a:off x="8631936" y="5905627"/>
            <a:ext cx="146304" cy="42310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flipV="1">
            <a:off x="8778240" y="5839638"/>
            <a:ext cx="146304" cy="65990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flipV="1">
            <a:off x="8924544" y="5766893"/>
            <a:ext cx="146304" cy="72745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flipV="1">
            <a:off x="9070848" y="5706049"/>
            <a:ext cx="146304" cy="60844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flipV="1">
            <a:off x="9217152" y="5672711"/>
            <a:ext cx="146304" cy="33338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363456" y="5672711"/>
            <a:ext cx="146304" cy="2718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509760" y="5675429"/>
            <a:ext cx="146304" cy="265885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656064" y="5941314"/>
            <a:ext cx="146304" cy="0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flipV="1">
            <a:off x="9802368" y="5850111"/>
            <a:ext cx="146304" cy="91203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948672" y="5850111"/>
            <a:ext cx="146304" cy="63493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094976" y="5913604"/>
            <a:ext cx="146304" cy="37768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241280" y="5951372"/>
            <a:ext cx="146304" cy="2357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V="1">
            <a:off x="10387584" y="5920069"/>
            <a:ext cx="146304" cy="33659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flipV="1">
            <a:off x="10533888" y="5859026"/>
            <a:ext cx="146304" cy="61042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flipV="1">
            <a:off x="10680192" y="5786256"/>
            <a:ext cx="146304" cy="72770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flipV="1">
            <a:off x="10826496" y="5720421"/>
            <a:ext cx="146304" cy="65835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flipV="1">
            <a:off x="10972800" y="5678406"/>
            <a:ext cx="146304" cy="42015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flipV="1">
            <a:off x="11119104" y="5670986"/>
            <a:ext cx="146304" cy="7420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1265408" y="5670986"/>
            <a:ext cx="146304" cy="270328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1411712" y="5941314"/>
            <a:ext cx="146304" cy="0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flipV="1">
            <a:off x="11558016" y="5830438"/>
            <a:ext cx="146304" cy="110876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1704320" y="5830438"/>
            <a:ext cx="146304" cy="67858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1850624" y="5898296"/>
            <a:ext cx="146304" cy="46059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1996928" y="5944355"/>
            <a:ext cx="146304" cy="12447"/>
          </a:xfrm>
          <a:prstGeom prst="line">
            <a:avLst/>
          </a:prstGeom>
          <a:noFill/>
          <a:ln w="12700">
            <a:solidFill>
              <a:srgbClr val="0E7C86">
                <a:alpha val="22000"/>
              </a:srgbClr>
            </a:solidFill>
            <a:prstDash val="solid"/>
          </a:ln>
        </p:spPr>
      </p:sp>
      <p:pic>
        <p:nvPicPr>
          <p:cNvPr id="16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87552"/>
            <a:ext cx="310896" cy="310896"/>
          </a:xfrm>
          <a:prstGeom prst="rect">
            <a:avLst/>
          </a:prstGeom>
        </p:spPr>
      </p:pic>
      <p:sp>
        <p:nvSpPr>
          <p:cNvPr id="169" name="Text 166"/>
          <p:cNvSpPr txBox="1"/>
          <p:nvPr/>
        </p:nvSpPr>
        <p:spPr>
          <a:xfrm>
            <a:off x="1234440" y="10332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FOR SLEEP HEALTH · RESEARCH PROTOTYPE</a:t>
            </a:r>
            <a:endParaRPr lang="en-US" sz="1200" dirty="0"/>
          </a:p>
        </p:txBody>
      </p:sp>
      <p:sp>
        <p:nvSpPr>
          <p:cNvPr id="170" name="Text 167"/>
          <p:cNvSpPr txBox="1"/>
          <p:nvPr/>
        </p:nvSpPr>
        <p:spPr>
          <a:xfrm>
            <a:off x="777240" y="146304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Apnea screening that runs on the</a:t>
            </a:r>
            <a:endParaRPr lang="en-US" sz="42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— and adapts to each patient</a:t>
            </a:r>
            <a:endParaRPr lang="en-US" sz="4200" dirty="0"/>
          </a:p>
        </p:txBody>
      </p:sp>
      <p:sp>
        <p:nvSpPr>
          <p:cNvPr id="171" name="Text 168"/>
          <p:cNvSpPr txBox="1"/>
          <p:nvPr/>
        </p:nvSpPr>
        <p:spPr>
          <a:xfrm>
            <a:off x="822960" y="321868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C6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INT8 SpO₂ screener on a Renesas RA8P1 (Cortex-M85) that recalibrates itself every night without patient labels, and improves across a fleet by sharing calibration — not data.</a:t>
            </a:r>
            <a:endParaRPr lang="en-US" sz="1650" dirty="0"/>
          </a:p>
        </p:txBody>
      </p:sp>
      <p:sp>
        <p:nvSpPr>
          <p:cNvPr id="172" name="Shape 169"/>
          <p:cNvSpPr/>
          <p:nvPr/>
        </p:nvSpPr>
        <p:spPr>
          <a:xfrm>
            <a:off x="822960" y="4370832"/>
            <a:ext cx="3310128" cy="1207008"/>
          </a:xfrm>
          <a:prstGeom prst="roundRect">
            <a:avLst>
              <a:gd name="adj" fmla="val 7576"/>
            </a:avLst>
          </a:prstGeom>
          <a:solidFill>
            <a:srgbClr val="173A5A"/>
          </a:solidFill>
          <a:ln w="12700">
            <a:solidFill>
              <a:srgbClr val="20486B"/>
            </a:solidFill>
            <a:prstDash val="solid"/>
          </a:ln>
        </p:spPr>
      </p:sp>
      <p:pic>
        <p:nvPicPr>
          <p:cNvPr id="17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663440"/>
            <a:ext cx="365760" cy="365760"/>
          </a:xfrm>
          <a:prstGeom prst="rect">
            <a:avLst/>
          </a:prstGeom>
        </p:spPr>
      </p:pic>
      <p:sp>
        <p:nvSpPr>
          <p:cNvPr id="174" name="Text 170"/>
          <p:cNvSpPr txBox="1"/>
          <p:nvPr/>
        </p:nvSpPr>
        <p:spPr>
          <a:xfrm>
            <a:off x="1600200" y="459028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6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+0.035 BA</a:t>
            </a:r>
            <a:endParaRPr lang="en-US" sz="2200" dirty="0"/>
          </a:p>
        </p:txBody>
      </p:sp>
      <p:sp>
        <p:nvSpPr>
          <p:cNvPr id="175" name="Text 171"/>
          <p:cNvSpPr txBox="1"/>
          <p:nvPr/>
        </p:nvSpPr>
        <p:spPr>
          <a:xfrm>
            <a:off x="1600200" y="5084064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F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gain, label-free</a:t>
            </a:r>
            <a:endParaRPr lang="en-US" sz="1150" dirty="0"/>
          </a:p>
        </p:txBody>
      </p:sp>
      <p:sp>
        <p:nvSpPr>
          <p:cNvPr id="176" name="Shape 172"/>
          <p:cNvSpPr/>
          <p:nvPr/>
        </p:nvSpPr>
        <p:spPr>
          <a:xfrm>
            <a:off x="4370832" y="4370832"/>
            <a:ext cx="3310128" cy="1207008"/>
          </a:xfrm>
          <a:prstGeom prst="roundRect">
            <a:avLst>
              <a:gd name="adj" fmla="val 7576"/>
            </a:avLst>
          </a:prstGeom>
          <a:solidFill>
            <a:srgbClr val="173A5A"/>
          </a:solidFill>
          <a:ln w="12700">
            <a:solidFill>
              <a:srgbClr val="20486B"/>
            </a:solidFill>
            <a:prstDash val="solid"/>
          </a:ln>
        </p:spPr>
      </p:sp>
      <p:pic>
        <p:nvPicPr>
          <p:cNvPr id="17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4663440"/>
            <a:ext cx="365760" cy="365760"/>
          </a:xfrm>
          <a:prstGeom prst="rect">
            <a:avLst/>
          </a:prstGeom>
        </p:spPr>
      </p:pic>
      <p:sp>
        <p:nvSpPr>
          <p:cNvPr id="178" name="Text 173"/>
          <p:cNvSpPr txBox="1"/>
          <p:nvPr/>
        </p:nvSpPr>
        <p:spPr>
          <a:xfrm>
            <a:off x="5148072" y="459028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FC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 µs · ~2 KB</a:t>
            </a:r>
            <a:endParaRPr lang="en-US" sz="2200" dirty="0"/>
          </a:p>
        </p:txBody>
      </p:sp>
      <p:sp>
        <p:nvSpPr>
          <p:cNvPr id="179" name="Text 174"/>
          <p:cNvSpPr txBox="1"/>
          <p:nvPr/>
        </p:nvSpPr>
        <p:spPr>
          <a:xfrm>
            <a:off x="5148072" y="5084064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F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session, on the MCU</a:t>
            </a:r>
            <a:endParaRPr lang="en-US" sz="1150" dirty="0"/>
          </a:p>
        </p:txBody>
      </p:sp>
      <p:sp>
        <p:nvSpPr>
          <p:cNvPr id="180" name="Shape 175"/>
          <p:cNvSpPr/>
          <p:nvPr/>
        </p:nvSpPr>
        <p:spPr>
          <a:xfrm>
            <a:off x="7918704" y="4370832"/>
            <a:ext cx="3310128" cy="1207008"/>
          </a:xfrm>
          <a:prstGeom prst="roundRect">
            <a:avLst>
              <a:gd name="adj" fmla="val 7576"/>
            </a:avLst>
          </a:prstGeom>
          <a:solidFill>
            <a:srgbClr val="173A5A"/>
          </a:solidFill>
          <a:ln w="12700">
            <a:solidFill>
              <a:srgbClr val="20486B"/>
            </a:solidFill>
            <a:prstDash val="solid"/>
          </a:ln>
        </p:spPr>
      </p:sp>
      <p:pic>
        <p:nvPicPr>
          <p:cNvPr id="18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4663440"/>
            <a:ext cx="365760" cy="365760"/>
          </a:xfrm>
          <a:prstGeom prst="rect">
            <a:avLst/>
          </a:prstGeom>
        </p:spPr>
      </p:pic>
      <p:sp>
        <p:nvSpPr>
          <p:cNvPr id="182" name="Text 176"/>
          <p:cNvSpPr txBox="1"/>
          <p:nvPr/>
        </p:nvSpPr>
        <p:spPr>
          <a:xfrm>
            <a:off x="8695944" y="459028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FC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on-board</a:t>
            </a:r>
            <a:endParaRPr lang="en-US" sz="2200" dirty="0"/>
          </a:p>
        </p:txBody>
      </p:sp>
      <p:sp>
        <p:nvSpPr>
          <p:cNvPr id="183" name="Text 177"/>
          <p:cNvSpPr txBox="1"/>
          <p:nvPr/>
        </p:nvSpPr>
        <p:spPr>
          <a:xfrm>
            <a:off x="8695944" y="5084064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F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1024×600 LCD dashboard</a:t>
            </a:r>
            <a:endParaRPr lang="en-US" sz="1150" dirty="0"/>
          </a:p>
        </p:txBody>
      </p:sp>
      <p:sp>
        <p:nvSpPr>
          <p:cNvPr id="184" name="Text 178"/>
          <p:cNvSpPr txBox="1"/>
          <p:nvPr/>
        </p:nvSpPr>
        <p:spPr>
          <a:xfrm>
            <a:off x="822960" y="61447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/ research prototype — not a clinical device.  No medical claims.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89204"/>
            <a:ext cx="237744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apnea is a screening bottleneck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121408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929384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Underdiagnosed at scale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325880" y="2368296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obstructive sleep apnea goes undetected — people are never referred for a sleep study in the first place.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48640" y="3337560"/>
            <a:ext cx="566928" cy="56692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49300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300984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gold standard doesn't scale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1325880" y="3739896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In-lab polysomnography is expensive, lab-bound and one-night — low throughput by construction.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470916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864608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4672584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At-home screening has hard constraints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1325880" y="5111496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at-home monitoring needs inference that is cheap, low-power, private, and adapts to each patient.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7360920" y="1874520"/>
            <a:ext cx="4279392" cy="3977640"/>
          </a:xfrm>
          <a:prstGeom prst="roundRect">
            <a:avLst>
              <a:gd name="adj" fmla="val 2299"/>
            </a:avLst>
          </a:prstGeom>
          <a:solidFill>
            <a:srgbClr val="F5F8F8"/>
          </a:solidFill>
          <a:ln w="12700">
            <a:solidFill>
              <a:srgbClr val="D8E0E2"/>
            </a:solidFill>
            <a:prstDash val="solid"/>
          </a:ln>
          <a:effectLst>
            <a:outerShdw sx="100000" sy="100000" kx="0" ky="0" algn="bl" rotWithShape="0" blurRad="88900" dist="25400" dir="5400000">
              <a:srgbClr val="C7CFD1">
                <a:alpha val="45000"/>
              </a:srgbClr>
            </a:outerShdw>
          </a:effectLst>
        </p:spPr>
      </p:sp>
      <p:sp>
        <p:nvSpPr>
          <p:cNvPr id="18" name="Text 12"/>
          <p:cNvSpPr txBox="1"/>
          <p:nvPr/>
        </p:nvSpPr>
        <p:spPr>
          <a:xfrm>
            <a:off x="7635240" y="20848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5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we target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7635240" y="2606040"/>
            <a:ext cx="373075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E0E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786384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polysomnography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7863840" y="309067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of sensors · clinician-scored · one night · high cost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 rot="10800000">
            <a:off x="9372600" y="3913632"/>
            <a:ext cx="274320" cy="256032"/>
          </a:xfrm>
          <a:prstGeom prst="triangle">
            <a:avLst/>
          </a:prstGeom>
          <a:solidFill>
            <a:srgbClr val="0E7C86"/>
          </a:solidFill>
          <a:ln/>
        </p:spPr>
      </p:sp>
      <p:sp>
        <p:nvSpPr>
          <p:cNvPr id="23" name="Shape 17"/>
          <p:cNvSpPr/>
          <p:nvPr/>
        </p:nvSpPr>
        <p:spPr>
          <a:xfrm>
            <a:off x="7635240" y="4315968"/>
            <a:ext cx="3730752" cy="1325880"/>
          </a:xfrm>
          <a:prstGeom prst="roundRect">
            <a:avLst>
              <a:gd name="adj" fmla="val 6207"/>
            </a:avLst>
          </a:prstGeom>
          <a:solidFill>
            <a:srgbClr val="0E7C86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7863840" y="4462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screener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7863840" y="4809744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1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finger sensor · self-calibrating · every night · microcontroller-cheap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0698480" y="64373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89204"/>
            <a:ext cx="237744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11338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screener that fits on a microcontroller — and gets better in the field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361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SpO₂-only INT8 MLP · 10→32→16→1 · 897 parameters, running on the RA8P1 Cortex-M85.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3566160" cy="3429000"/>
          </a:xfrm>
          <a:prstGeom prst="roundRect">
            <a:avLst>
              <a:gd name="adj" fmla="val 2667"/>
            </a:avLst>
          </a:prstGeom>
          <a:solidFill>
            <a:srgbClr val="F5F8F8"/>
          </a:solidFill>
          <a:ln w="12700">
            <a:solidFill>
              <a:srgbClr val="D8E0E2"/>
            </a:solidFill>
            <a:prstDash val="solid"/>
          </a:ln>
          <a:effectLst>
            <a:outerShdw sx="100000" sy="100000" kx="0" ky="0" algn="bl" rotWithShape="0" blurRad="88900" dist="25400" dir="5400000">
              <a:srgbClr val="C7CFD1">
                <a:alpha val="4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468880"/>
            <a:ext cx="713232" cy="71323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67004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41248" y="33558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 inference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59536" y="4050792"/>
            <a:ext cx="29992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model runs on the MCU — no cloud round-trip. 77 µs and ~2 KB per session, decisions bit-exact vs the host reference.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315968" y="2148840"/>
            <a:ext cx="3566160" cy="3429000"/>
          </a:xfrm>
          <a:prstGeom prst="roundRect">
            <a:avLst>
              <a:gd name="adj" fmla="val 2667"/>
            </a:avLst>
          </a:prstGeom>
          <a:solidFill>
            <a:srgbClr val="F5F8F8"/>
          </a:solidFill>
          <a:ln w="12700">
            <a:solidFill>
              <a:srgbClr val="D8E0E2"/>
            </a:solidFill>
            <a:prstDash val="solid"/>
          </a:ln>
          <a:effectLst>
            <a:outerShdw sx="100000" sy="100000" kx="0" ky="0" algn="bl" rotWithShape="0" blurRad="88900" dist="25400" dir="5400000">
              <a:srgbClr val="C7CFD1">
                <a:alpha val="4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36008" y="2468880"/>
            <a:ext cx="713232" cy="713232"/>
          </a:xfrm>
          <a:prstGeom prst="ellipse">
            <a:avLst/>
          </a:prstGeom>
          <a:solidFill>
            <a:srgbClr val="D6A23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2670048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08576" y="33558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Label-free self-calibration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626864" y="4050792"/>
            <a:ext cx="29992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night the device recentres its own decision line from its unlabelled data — the source of the +0.035 balanced-accuracy gain.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083296" y="2148840"/>
            <a:ext cx="3566160" cy="3429000"/>
          </a:xfrm>
          <a:prstGeom prst="roundRect">
            <a:avLst>
              <a:gd name="adj" fmla="val 2667"/>
            </a:avLst>
          </a:prstGeom>
          <a:solidFill>
            <a:srgbClr val="F5F8F8"/>
          </a:solidFill>
          <a:ln w="12700">
            <a:solidFill>
              <a:srgbClr val="D8E0E2"/>
            </a:solidFill>
            <a:prstDash val="solid"/>
          </a:ln>
          <a:effectLst>
            <a:outerShdw sx="100000" sy="100000" kx="0" ky="0" algn="bl" rotWithShape="0" blurRad="88900" dist="25400" dir="5400000">
              <a:srgbClr val="C7CFD1">
                <a:alpha val="4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03336" y="2468880"/>
            <a:ext cx="713232" cy="713232"/>
          </a:xfrm>
          <a:prstGeom prst="ellipse">
            <a:avLst/>
          </a:prstGeom>
          <a:solidFill>
            <a:srgbClr val="0A5A6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4" y="2670048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375904" y="33558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Privacy-preserving federation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394192" y="4050792"/>
            <a:ext cx="29992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pool calibration statistics — not recordings. No raw patient data leaves the device, and the fleet lifts BA by +0.048.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57790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the contribution is the embedded / real-time realization and its honest, measured performance — a deployable edge path, not a new ML algorithm.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0698480" y="64373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89204"/>
            <a:ext cx="237744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 → infer → self-calibrate → federate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2148840" cy="1828800"/>
          </a:xfrm>
          <a:prstGeom prst="roundRect">
            <a:avLst>
              <a:gd name="adj" fmla="val 5000"/>
            </a:avLst>
          </a:prstGeom>
          <a:solidFill>
            <a:srgbClr val="F5F8F8"/>
          </a:solidFill>
          <a:ln w="12700">
            <a:solidFill>
              <a:srgbClr val="D8E0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148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SpO₂ signal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 flipV="1">
            <a:off x="777240" y="2824083"/>
            <a:ext cx="100584" cy="42561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877824" y="2786742"/>
            <a:ext cx="100584" cy="37341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978408" y="2759199"/>
            <a:ext cx="100584" cy="27543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1078992" y="2744832"/>
            <a:ext cx="100584" cy="14367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79576" y="2744832"/>
            <a:ext cx="100584" cy="571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80160" y="2745403"/>
            <a:ext cx="100584" cy="230969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80744" y="2976372"/>
            <a:ext cx="100584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81328" y="2976372"/>
            <a:ext cx="100584" cy="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1581912" y="2869903"/>
            <a:ext cx="100584" cy="106469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682496" y="2869903"/>
            <a:ext cx="100584" cy="42346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783080" y="2912249"/>
            <a:ext cx="100584" cy="36753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883664" y="2949003"/>
            <a:ext cx="100584" cy="26654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984248" y="2975656"/>
            <a:ext cx="100584" cy="13285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2084832" y="2987230"/>
            <a:ext cx="100584" cy="1712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V="1">
            <a:off x="2185416" y="2970730"/>
            <a:ext cx="100584" cy="16499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V="1">
            <a:off x="2286000" y="2941467"/>
            <a:ext cx="100584" cy="29263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V="1">
            <a:off x="2386584" y="2903028"/>
            <a:ext cx="100584" cy="38439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3291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features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 / 30 s stride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 rot="5400000">
            <a:off x="2761488" y="2743200"/>
            <a:ext cx="256032" cy="274320"/>
          </a:xfrm>
          <a:prstGeom prst="triangle">
            <a:avLst/>
          </a:prstGeom>
          <a:solidFill>
            <a:srgbClr val="8A949E"/>
          </a:solidFill>
          <a:ln/>
        </p:spPr>
      </p:sp>
      <p:sp>
        <p:nvSpPr>
          <p:cNvPr id="26" name="Shape 23"/>
          <p:cNvSpPr/>
          <p:nvPr/>
        </p:nvSpPr>
        <p:spPr>
          <a:xfrm>
            <a:off x="3200400" y="1965960"/>
            <a:ext cx="3246120" cy="1828800"/>
          </a:xfrm>
          <a:prstGeom prst="roundRect">
            <a:avLst>
              <a:gd name="adj" fmla="val 5000"/>
            </a:avLst>
          </a:prstGeom>
          <a:solidFill>
            <a:srgbClr val="0F2A4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200400" y="211226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F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MLP on Cortex-M85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3703320" y="2587752"/>
            <a:ext cx="822960" cy="0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703320" y="2587752"/>
            <a:ext cx="822960" cy="169164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703320" y="2587752"/>
            <a:ext cx="822960" cy="338328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703320" y="2587752"/>
            <a:ext cx="822960" cy="507492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703320" y="2587752"/>
            <a:ext cx="822960" cy="676656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V="1">
            <a:off x="3703320" y="2587752"/>
            <a:ext cx="822960" cy="225552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flipV="1">
            <a:off x="3703320" y="2756916"/>
            <a:ext cx="822960" cy="56388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703320" y="2813304"/>
            <a:ext cx="822960" cy="112776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703320" y="2813304"/>
            <a:ext cx="822960" cy="281940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703320" y="2813304"/>
            <a:ext cx="822960" cy="451104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flipV="1">
            <a:off x="3703320" y="2587752"/>
            <a:ext cx="822960" cy="451104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flipV="1">
            <a:off x="3703320" y="2756916"/>
            <a:ext cx="822960" cy="281940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V="1">
            <a:off x="3703320" y="2926080"/>
            <a:ext cx="822960" cy="112776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703320" y="3038856"/>
            <a:ext cx="822960" cy="56388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703320" y="3038856"/>
            <a:ext cx="822960" cy="225552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 flipV="1">
            <a:off x="3703320" y="2587752"/>
            <a:ext cx="822960" cy="676656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 flipV="1">
            <a:off x="3703320" y="2756916"/>
            <a:ext cx="822960" cy="507492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flipV="1">
            <a:off x="3703320" y="2926080"/>
            <a:ext cx="822960" cy="338328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flipV="1">
            <a:off x="3703320" y="3095244"/>
            <a:ext cx="822960" cy="169164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703320" y="3264408"/>
            <a:ext cx="822960" cy="0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526280" y="2587752"/>
            <a:ext cx="822960" cy="0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526280" y="2587752"/>
            <a:ext cx="822960" cy="225552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526280" y="2587752"/>
            <a:ext cx="822960" cy="451104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526280" y="2587752"/>
            <a:ext cx="822960" cy="676656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flipV="1">
            <a:off x="4526280" y="2587752"/>
            <a:ext cx="822960" cy="169164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526280" y="2756916"/>
            <a:ext cx="822960" cy="56388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526280" y="2756916"/>
            <a:ext cx="822960" cy="281940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526280" y="2756916"/>
            <a:ext cx="822960" cy="507492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 flipV="1">
            <a:off x="4526280" y="2587752"/>
            <a:ext cx="822960" cy="338328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 flipV="1">
            <a:off x="4526280" y="2813304"/>
            <a:ext cx="822960" cy="112776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526280" y="2926080"/>
            <a:ext cx="822960" cy="112776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526280" y="2926080"/>
            <a:ext cx="822960" cy="338328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flipV="1">
            <a:off x="4526280" y="2587752"/>
            <a:ext cx="822960" cy="507492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 flipV="1">
            <a:off x="4526280" y="2813304"/>
            <a:ext cx="822960" cy="281940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 flipV="1">
            <a:off x="4526280" y="3038856"/>
            <a:ext cx="822960" cy="56388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526280" y="3095244"/>
            <a:ext cx="822960" cy="169164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 flipV="1">
            <a:off x="4526280" y="2587752"/>
            <a:ext cx="822960" cy="676656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 flipV="1">
            <a:off x="4526280" y="2813304"/>
            <a:ext cx="822960" cy="451104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 flipV="1">
            <a:off x="4526280" y="3038856"/>
            <a:ext cx="822960" cy="225552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526280" y="3264408"/>
            <a:ext cx="822960" cy="0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349240" y="2587752"/>
            <a:ext cx="640080" cy="338328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5349240" y="2813304"/>
            <a:ext cx="640080" cy="112776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 flipV="1">
            <a:off x="5349240" y="2926080"/>
            <a:ext cx="640080" cy="112776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 flipV="1">
            <a:off x="5349240" y="2926080"/>
            <a:ext cx="640080" cy="338328"/>
          </a:xfrm>
          <a:prstGeom prst="line">
            <a:avLst/>
          </a:prstGeom>
          <a:noFill/>
          <a:ln w="6350">
            <a:solidFill>
              <a:srgbClr val="2E5170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621024" y="2505456"/>
            <a:ext cx="164592" cy="164592"/>
          </a:xfrm>
          <a:prstGeom prst="ellipse">
            <a:avLst/>
          </a:prstGeom>
          <a:solidFill>
            <a:srgbClr val="13A39B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621024" y="2731008"/>
            <a:ext cx="164592" cy="164592"/>
          </a:xfrm>
          <a:prstGeom prst="ellipse">
            <a:avLst/>
          </a:prstGeom>
          <a:solidFill>
            <a:srgbClr val="13A39B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3621024" y="2956560"/>
            <a:ext cx="164592" cy="164592"/>
          </a:xfrm>
          <a:prstGeom prst="ellipse">
            <a:avLst/>
          </a:prstGeom>
          <a:solidFill>
            <a:srgbClr val="13A39B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3621024" y="3182112"/>
            <a:ext cx="164592" cy="164592"/>
          </a:xfrm>
          <a:prstGeom prst="ellipse">
            <a:avLst/>
          </a:prstGeom>
          <a:solidFill>
            <a:srgbClr val="13A39B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443984" y="2505456"/>
            <a:ext cx="164592" cy="164592"/>
          </a:xfrm>
          <a:prstGeom prst="ellipse">
            <a:avLst/>
          </a:prstGeom>
          <a:solidFill>
            <a:srgbClr val="13A39B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443984" y="2674620"/>
            <a:ext cx="164592" cy="164592"/>
          </a:xfrm>
          <a:prstGeom prst="ellipse">
            <a:avLst/>
          </a:prstGeom>
          <a:solidFill>
            <a:srgbClr val="13A39B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4443984" y="2843784"/>
            <a:ext cx="164592" cy="164592"/>
          </a:xfrm>
          <a:prstGeom prst="ellipse">
            <a:avLst/>
          </a:prstGeom>
          <a:solidFill>
            <a:srgbClr val="13A39B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4443984" y="3012948"/>
            <a:ext cx="164592" cy="164592"/>
          </a:xfrm>
          <a:prstGeom prst="ellipse">
            <a:avLst/>
          </a:prstGeom>
          <a:solidFill>
            <a:srgbClr val="13A39B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4443984" y="3182112"/>
            <a:ext cx="164592" cy="164592"/>
          </a:xfrm>
          <a:prstGeom prst="ellipse">
            <a:avLst/>
          </a:prstGeom>
          <a:solidFill>
            <a:srgbClr val="13A39B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5266944" y="2505456"/>
            <a:ext cx="164592" cy="164592"/>
          </a:xfrm>
          <a:prstGeom prst="ellipse">
            <a:avLst/>
          </a:prstGeom>
          <a:solidFill>
            <a:srgbClr val="13A39B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5266944" y="2731008"/>
            <a:ext cx="164592" cy="164592"/>
          </a:xfrm>
          <a:prstGeom prst="ellipse">
            <a:avLst/>
          </a:prstGeom>
          <a:solidFill>
            <a:srgbClr val="13A39B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5266944" y="2956560"/>
            <a:ext cx="164592" cy="164592"/>
          </a:xfrm>
          <a:prstGeom prst="ellipse">
            <a:avLst/>
          </a:prstGeom>
          <a:solidFill>
            <a:srgbClr val="13A39B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5266944" y="3182112"/>
            <a:ext cx="164592" cy="164592"/>
          </a:xfrm>
          <a:prstGeom prst="ellipse">
            <a:avLst/>
          </a:prstGeom>
          <a:solidFill>
            <a:srgbClr val="13A39B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5907024" y="2843784"/>
            <a:ext cx="164592" cy="164592"/>
          </a:xfrm>
          <a:prstGeom prst="ellipse">
            <a:avLst/>
          </a:prstGeom>
          <a:solidFill>
            <a:srgbClr val="D6A23C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3200400" y="34290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→ 32 → 16 → 1  ·  897 params</a:t>
            </a:r>
            <a:endParaRPr lang="en-US" sz="1100" dirty="0"/>
          </a:p>
        </p:txBody>
      </p:sp>
      <p:sp>
        <p:nvSpPr>
          <p:cNvPr id="87" name="Shape 84"/>
          <p:cNvSpPr/>
          <p:nvPr/>
        </p:nvSpPr>
        <p:spPr>
          <a:xfrm rot="5400000">
            <a:off x="6510528" y="2743200"/>
            <a:ext cx="256032" cy="274320"/>
          </a:xfrm>
          <a:prstGeom prst="triangle">
            <a:avLst/>
          </a:prstGeom>
          <a:solidFill>
            <a:srgbClr val="8A949E"/>
          </a:solidFill>
          <a:ln/>
        </p:spPr>
      </p:sp>
      <p:sp>
        <p:nvSpPr>
          <p:cNvPr id="88" name="Shape 85"/>
          <p:cNvSpPr/>
          <p:nvPr/>
        </p:nvSpPr>
        <p:spPr>
          <a:xfrm>
            <a:off x="6858000" y="1965960"/>
            <a:ext cx="2148840" cy="1828800"/>
          </a:xfrm>
          <a:prstGeom prst="roundRect">
            <a:avLst>
              <a:gd name="adj" fmla="val 5000"/>
            </a:avLst>
          </a:prstGeom>
          <a:solidFill>
            <a:srgbClr val="E7F1F2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6858000" y="21488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5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Per-window verdict</a:t>
            </a:r>
            <a:endParaRPr lang="en-US" sz="1400" dirty="0"/>
          </a:p>
        </p:txBody>
      </p:sp>
      <p:sp>
        <p:nvSpPr>
          <p:cNvPr id="90" name="Shape 87"/>
          <p:cNvSpPr/>
          <p:nvPr/>
        </p:nvSpPr>
        <p:spPr>
          <a:xfrm>
            <a:off x="7178040" y="260604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C24A3C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7178040" y="26060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APNEA</a:t>
            </a:r>
            <a:endParaRPr lang="en-US" sz="1400" dirty="0"/>
          </a:p>
        </p:txBody>
      </p:sp>
      <p:sp>
        <p:nvSpPr>
          <p:cNvPr id="92" name="Text 89"/>
          <p:cNvSpPr txBox="1"/>
          <p:nvPr/>
        </p:nvSpPr>
        <p:spPr>
          <a:xfrm>
            <a:off x="6858000" y="31729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running AHI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(window proxy)</a:t>
            </a:r>
            <a:endParaRPr lang="en-US" sz="1150" dirty="0"/>
          </a:p>
        </p:txBody>
      </p:sp>
      <p:sp>
        <p:nvSpPr>
          <p:cNvPr id="93" name="Shape 90"/>
          <p:cNvSpPr/>
          <p:nvPr/>
        </p:nvSpPr>
        <p:spPr>
          <a:xfrm>
            <a:off x="548640" y="4160520"/>
            <a:ext cx="5358384" cy="1600200"/>
          </a:xfrm>
          <a:prstGeom prst="roundRect">
            <a:avLst>
              <a:gd name="adj" fmla="val 5714"/>
            </a:avLst>
          </a:prstGeom>
          <a:solidFill>
            <a:srgbClr val="F5F8F8"/>
          </a:solidFill>
          <a:ln w="12700">
            <a:solidFill>
              <a:srgbClr val="D8E0E2"/>
            </a:solidFill>
            <a:prstDash val="solid"/>
          </a:ln>
          <a:effectLst>
            <a:outerShdw sx="100000" sy="100000" kx="0" ky="0" algn="bl" rotWithShape="0" blurRad="88900" dist="25400" dir="5400000">
              <a:srgbClr val="C7CFD1">
                <a:alpha val="45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822960" y="4526280"/>
            <a:ext cx="566928" cy="566928"/>
          </a:xfrm>
          <a:prstGeom prst="ellipse">
            <a:avLst/>
          </a:prstGeom>
          <a:solidFill>
            <a:srgbClr val="D6A23C"/>
          </a:solidFill>
          <a:ln/>
        </p:spPr>
      </p:sp>
      <p:pic>
        <p:nvPicPr>
          <p:cNvPr id="9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4690872"/>
            <a:ext cx="237744" cy="237744"/>
          </a:xfrm>
          <a:prstGeom prst="rect">
            <a:avLst/>
          </a:prstGeom>
        </p:spPr>
      </p:pic>
      <p:sp>
        <p:nvSpPr>
          <p:cNvPr id="96" name="Text 92"/>
          <p:cNvSpPr txBox="1"/>
          <p:nvPr/>
        </p:nvSpPr>
        <p:spPr>
          <a:xfrm>
            <a:off x="1600200" y="44165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Per-session recalibration  ·  on device</a:t>
            </a:r>
            <a:endParaRPr lang="en-US" sz="1500" dirty="0"/>
          </a:p>
        </p:txBody>
      </p:sp>
      <p:sp>
        <p:nvSpPr>
          <p:cNvPr id="97" name="Text 93"/>
          <p:cNvSpPr txBox="1"/>
          <p:nvPr/>
        </p:nvSpPr>
        <p:spPr>
          <a:xfrm>
            <a:off x="1600200" y="481888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uses its own unlabelled night to recentre the decision threshold — no labels, no cloud. This is the +0.035 BA gain.</a:t>
            </a:r>
            <a:endParaRPr lang="en-US" sz="1250" dirty="0"/>
          </a:p>
        </p:txBody>
      </p:sp>
      <p:sp>
        <p:nvSpPr>
          <p:cNvPr id="98" name="Shape 94"/>
          <p:cNvSpPr/>
          <p:nvPr/>
        </p:nvSpPr>
        <p:spPr>
          <a:xfrm>
            <a:off x="6281928" y="4160520"/>
            <a:ext cx="5358384" cy="1600200"/>
          </a:xfrm>
          <a:prstGeom prst="roundRect">
            <a:avLst>
              <a:gd name="adj" fmla="val 5714"/>
            </a:avLst>
          </a:prstGeom>
          <a:solidFill>
            <a:srgbClr val="0F2A43"/>
          </a:solidFill>
          <a:ln w="12700">
            <a:solidFill>
              <a:srgbClr val="D8E0E2"/>
            </a:solidFill>
            <a:prstDash val="solid"/>
          </a:ln>
          <a:effectLst>
            <a:outerShdw sx="100000" sy="100000" kx="0" ky="0" algn="bl" rotWithShape="0" blurRad="88900" dist="25400" dir="5400000">
              <a:srgbClr val="C7CFD1">
                <a:alpha val="45000"/>
              </a:srgbClr>
            </a:outerShdw>
          </a:effectLst>
        </p:spPr>
      </p:sp>
      <p:sp>
        <p:nvSpPr>
          <p:cNvPr id="99" name="Shape 95"/>
          <p:cNvSpPr/>
          <p:nvPr/>
        </p:nvSpPr>
        <p:spPr>
          <a:xfrm>
            <a:off x="6556248" y="4526280"/>
            <a:ext cx="566928" cy="566928"/>
          </a:xfrm>
          <a:prstGeom prst="ellipse">
            <a:avLst/>
          </a:prstGeom>
          <a:solidFill>
            <a:srgbClr val="13A39B"/>
          </a:solidFill>
          <a:ln/>
        </p:spPr>
      </p:sp>
      <p:pic>
        <p:nvPicPr>
          <p:cNvPr id="10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4690872"/>
            <a:ext cx="237744" cy="237744"/>
          </a:xfrm>
          <a:prstGeom prst="rect">
            <a:avLst/>
          </a:prstGeom>
        </p:spPr>
      </p:pic>
      <p:sp>
        <p:nvSpPr>
          <p:cNvPr id="101" name="Text 96"/>
          <p:cNvSpPr txBox="1"/>
          <p:nvPr/>
        </p:nvSpPr>
        <p:spPr>
          <a:xfrm>
            <a:off x="7333488" y="4416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federation  ·  privacy-preserving</a:t>
            </a:r>
            <a:endParaRPr lang="en-US" sz="1500" dirty="0"/>
          </a:p>
        </p:txBody>
      </p:sp>
      <p:sp>
        <p:nvSpPr>
          <p:cNvPr id="102" name="Text 97"/>
          <p:cNvSpPr txBox="1"/>
          <p:nvPr/>
        </p:nvSpPr>
        <p:spPr>
          <a:xfrm>
            <a:off x="7333488" y="481888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share calibration statistics only — never recordings. Pooling 1→70 devices adds +0.048 BA; pooling beats per-site.</a:t>
            </a:r>
            <a:endParaRPr lang="en-US" sz="1250" dirty="0"/>
          </a:p>
        </p:txBody>
      </p:sp>
      <p:sp>
        <p:nvSpPr>
          <p:cNvPr id="103" name="Text 98"/>
          <p:cNvSpPr txBox="1"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04" name="Text 99"/>
          <p:cNvSpPr txBox="1"/>
          <p:nvPr/>
        </p:nvSpPr>
        <p:spPr>
          <a:xfrm>
            <a:off x="10698480" y="64373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89204"/>
            <a:ext cx="237744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WHAT WORKS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11338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Self-calibration lifts accuracy on unseen patients — with no labels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3977640" cy="3977640"/>
          </a:xfrm>
          <a:prstGeom prst="roundRect">
            <a:avLst>
              <a:gd name="adj" fmla="val 2759"/>
            </a:avLst>
          </a:prstGeom>
          <a:solidFill>
            <a:srgbClr val="0F2A4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COHORT · n = 25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146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D6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+0.035</a:t>
            </a:r>
            <a:endParaRPr lang="en-US" sz="6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accuracy, out of sample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114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0.7910 → 0.8256</a:t>
            </a:r>
            <a:pPr algn="ctr" indent="0" marL="0">
              <a:lnSpc>
                <a:spcPts val="1900"/>
              </a:lnSpc>
              <a:buNone/>
            </a:pP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6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95% CI [+0.0057, +0.0651]  ·  excludes zero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074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Label-free matches the labelled reference (+0.0359) — dropping labels costs nothing.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800600" y="1828800"/>
            <a:ext cx="6839712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8E0E2"/>
            </a:solidFill>
            <a:prstDash val="solid"/>
          </a:ln>
          <a:effectLst>
            <a:outerShdw sx="100000" sy="100000" kx="0" ky="0" algn="bl" rotWithShape="0" blurRad="88900" dist="25400" dir="5400000">
              <a:srgbClr val="C7CFD1">
                <a:alpha val="4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120640" y="2011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 on subjects nothing was tuned on</a:t>
            </a:r>
            <a:endParaRPr lang="en-US" sz="13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029200" y="2514600"/>
          <a:ext cx="63550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on-device calibration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0698480" y="64373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89204"/>
            <a:ext cx="237744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WHAT WORKS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11338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fleet learns together — without sharing patient data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68580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8E0E2"/>
            </a:solidFill>
            <a:prstDash val="solid"/>
          </a:ln>
          <a:effectLst>
            <a:outerShdw sx="100000" sy="100000" kx="0" ky="0" algn="bl" rotWithShape="0" blurRad="88900" dist="25400" dir="5400000">
              <a:srgbClr val="C7CFD1">
                <a:alpha val="4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68680" y="20116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balanced accuracy as calibration is pooled across 1 → 70 devices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2468880"/>
          <a:ext cx="6446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68680" y="565099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Saturates around 20–40 devices · pooling beats per-site at every donor count.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635240" y="1828800"/>
            <a:ext cx="4005072" cy="1371600"/>
          </a:xfrm>
          <a:prstGeom prst="roundRect">
            <a:avLst>
              <a:gd name="adj" fmla="val 6667"/>
            </a:avLst>
          </a:prstGeom>
          <a:solidFill>
            <a:srgbClr val="0E7C86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635240" y="1938528"/>
            <a:ext cx="4005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+0.048</a:t>
            </a:r>
            <a:endParaRPr lang="en-US" sz="4600" dirty="0"/>
          </a:p>
        </p:txBody>
      </p:sp>
      <p:sp>
        <p:nvSpPr>
          <p:cNvPr id="11" name="Text 7"/>
          <p:cNvSpPr txBox="1"/>
          <p:nvPr/>
        </p:nvSpPr>
        <p:spPr>
          <a:xfrm>
            <a:off x="7818120" y="2724912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0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from full-fleet pooling  ·  CI [+0.036, +0.060]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635240" y="3383280"/>
            <a:ext cx="4005072" cy="2423160"/>
          </a:xfrm>
          <a:prstGeom prst="roundRect">
            <a:avLst>
              <a:gd name="adj" fmla="val 3774"/>
            </a:avLst>
          </a:prstGeom>
          <a:solidFill>
            <a:srgbClr val="F5F8F8"/>
          </a:solidFill>
          <a:ln w="12700">
            <a:solidFill>
              <a:srgbClr val="D8E0E2"/>
            </a:solidFill>
            <a:prstDash val="solid"/>
          </a:ln>
          <a:effectLst>
            <a:outerShdw sx="100000" sy="100000" kx="0" ky="0" algn="bl" rotWithShape="0" blurRad="88900" dist="25400" dir="5400000">
              <a:srgbClr val="C7CFD1">
                <a:alpha val="4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863840" y="3611880"/>
            <a:ext cx="566928" cy="56692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2" y="3776472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613648" y="35661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by design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7863840" y="4279392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patient data leaves the device.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Only per-device calibration statistics are pooled into a shared reference — recordings stay local.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7863840" y="52303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calibration, not model averaging — the effect is real and measured.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federation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0698480" y="64373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89204"/>
            <a:ext cx="237744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REAL HARDWARE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Fast, tiny, and bit-exact on the RA8P1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354787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2"/>
            </a:solidFill>
            <a:prstDash val="solid"/>
          </a:ln>
          <a:effectLst>
            <a:outerShdw sx="100000" sy="100000" kx="0" ky="0" algn="bl" rotWithShape="0" blurRad="88900" dist="25400" dir="5400000">
              <a:srgbClr val="C7CFD1">
                <a:alpha val="4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039112" y="224028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2404872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2880360"/>
            <a:ext cx="3547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77,429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63016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/ session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3931920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77 µs @ 1 GHz — full recalibration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15968" y="1965960"/>
            <a:ext cx="354787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2"/>
            </a:solidFill>
            <a:prstDash val="solid"/>
          </a:ln>
          <a:effectLst>
            <a:outerShdw sx="100000" sy="100000" kx="0" ky="0" algn="bl" rotWithShape="0" blurRad="88900" dist="25400" dir="5400000">
              <a:srgbClr val="C7CFD1">
                <a:alpha val="4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806440" y="2240280"/>
            <a:ext cx="566928" cy="566928"/>
          </a:xfrm>
          <a:prstGeom prst="ellipse">
            <a:avLst/>
          </a:prstGeom>
          <a:solidFill>
            <a:srgbClr val="0A5A6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240487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315968" y="2880360"/>
            <a:ext cx="3547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5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6,718</a:t>
            </a:r>
            <a:endParaRPr lang="en-US" sz="4000" dirty="0"/>
          </a:p>
        </p:txBody>
      </p:sp>
      <p:sp>
        <p:nvSpPr>
          <p:cNvPr id="15" name="Text 10"/>
          <p:cNvSpPr txBox="1"/>
          <p:nvPr/>
        </p:nvSpPr>
        <p:spPr>
          <a:xfrm>
            <a:off x="4315968" y="363016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/ inference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453128" y="3931920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6.71 µs @ 1 GHz — one window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083296" y="1965960"/>
            <a:ext cx="354787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2"/>
            </a:solidFill>
            <a:prstDash val="solid"/>
          </a:ln>
          <a:effectLst>
            <a:outerShdw sx="100000" sy="100000" kx="0" ky="0" algn="bl" rotWithShape="0" blurRad="88900" dist="25400" dir="5400000">
              <a:srgbClr val="C7CFD1">
                <a:alpha val="4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573768" y="2240280"/>
            <a:ext cx="566928" cy="566928"/>
          </a:xfrm>
          <a:prstGeom prst="ellipse">
            <a:avLst/>
          </a:prstGeom>
          <a:solidFill>
            <a:srgbClr val="0F2A4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0" y="240487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083296" y="2880360"/>
            <a:ext cx="3547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KB</a:t>
            </a:r>
            <a:endParaRPr lang="en-US" sz="4000" dirty="0"/>
          </a:p>
        </p:txBody>
      </p:sp>
      <p:sp>
        <p:nvSpPr>
          <p:cNvPr id="21" name="Text 15"/>
          <p:cNvSpPr txBox="1"/>
          <p:nvPr/>
        </p:nvSpPr>
        <p:spPr>
          <a:xfrm>
            <a:off x="8083296" y="363016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/ session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8220456" y="3931920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working set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457200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7F1F2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68680" y="480060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93776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54480" y="457200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decisions are bit-exact vs the host reference.  </a:t>
            </a:r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INT8 pipeline gives the same answer on the MCU as on the workstation — verified over serial on hardware.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reported as cycles and RAM — an on-board current probe for a joules figure is on the roadmap.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performance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10698480" y="64373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89204"/>
            <a:ext cx="237744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6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NEW THIS SESSION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edge dashboard on the board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73736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6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night of SpO₂ data streams over serial into the RA8P1. The firmware runs the model per window and drives a 1024×600 LCD in real time — a big verdict, running AHI and live counts.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3246120"/>
            <a:ext cx="384048" cy="384048"/>
          </a:xfrm>
          <a:prstGeom prst="ellipse">
            <a:avLst/>
          </a:prstGeom>
          <a:solidFill>
            <a:srgbClr val="13A39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328416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319125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flashed &amp; serial-verified on hardware this session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22960" y="4023360"/>
            <a:ext cx="384048" cy="384048"/>
          </a:xfrm>
          <a:prstGeom prst="ellipse">
            <a:avLst/>
          </a:prstGeom>
          <a:solidFill>
            <a:srgbClr val="13A39B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105656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39684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apnea window returns APNEA at prob 0.9673 — bit-exact vs host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822960" y="4800600"/>
            <a:ext cx="384048" cy="384048"/>
          </a:xfrm>
          <a:prstGeom prst="ellipse">
            <a:avLst/>
          </a:prstGeom>
          <a:solidFill>
            <a:srgbClr val="13A39B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882896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71600" y="474573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Per-window updates: verdict, AHI window-proxy, live counts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5989320" y="1691640"/>
            <a:ext cx="5650992" cy="4160520"/>
          </a:xfrm>
          <a:prstGeom prst="roundRect">
            <a:avLst>
              <a:gd name="adj" fmla="val 3077"/>
            </a:avLst>
          </a:prstGeom>
          <a:solidFill>
            <a:srgbClr val="05121E"/>
          </a:solidFill>
          <a:ln w="25400">
            <a:solidFill>
              <a:srgbClr val="29506B"/>
            </a:solidFill>
            <a:prstDash val="solid"/>
          </a:ln>
          <a:effectLst>
            <a:outerShdw sx="100000" sy="100000" kx="0" ky="0" algn="bl" rotWithShape="0" blurRad="127000" dist="38100" dir="5400000">
              <a:srgbClr val="05101A">
                <a:alpha val="55000"/>
              </a:srgbClr>
            </a:outerShdw>
          </a:effectLst>
        </p:spPr>
      </p:sp>
      <p:sp>
        <p:nvSpPr>
          <p:cNvPr id="16" name="Text 10"/>
          <p:cNvSpPr txBox="1"/>
          <p:nvPr/>
        </p:nvSpPr>
        <p:spPr>
          <a:xfrm>
            <a:off x="6245352" y="1947672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F9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APNEA SCREENER · RA8P1 · 1024×600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10981944" y="196596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10405872" y="19110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7C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6245352" y="2404872"/>
            <a:ext cx="5138928" cy="1371600"/>
          </a:xfrm>
          <a:prstGeom prst="roundRect">
            <a:avLst>
              <a:gd name="adj" fmla="val 6667"/>
            </a:avLst>
          </a:prstGeom>
          <a:solidFill>
            <a:srgbClr val="C24A3C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245352" y="2514600"/>
            <a:ext cx="5138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APNEA</a:t>
            </a:r>
            <a:endParaRPr lang="en-US" sz="5600" dirty="0"/>
          </a:p>
        </p:txBody>
      </p:sp>
      <p:sp>
        <p:nvSpPr>
          <p:cNvPr id="21" name="Text 15"/>
          <p:cNvSpPr txBox="1"/>
          <p:nvPr/>
        </p:nvSpPr>
        <p:spPr>
          <a:xfrm>
            <a:off x="6245352" y="3355848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E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 0.9673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6245352" y="3977640"/>
            <a:ext cx="1591056" cy="868680"/>
          </a:xfrm>
          <a:prstGeom prst="roundRect">
            <a:avLst>
              <a:gd name="adj" fmla="val 8421"/>
            </a:avLst>
          </a:prstGeom>
          <a:solidFill>
            <a:srgbClr val="0C2033"/>
          </a:solidFill>
          <a:ln w="12700">
            <a:solidFill>
              <a:srgbClr val="1E3E56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245352" y="406908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F9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6245352" y="4270248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FE7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22.3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6245352" y="4636008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8019288" y="3977640"/>
            <a:ext cx="1591056" cy="868680"/>
          </a:xfrm>
          <a:prstGeom prst="roundRect">
            <a:avLst>
              <a:gd name="adj" fmla="val 8421"/>
            </a:avLst>
          </a:prstGeom>
          <a:solidFill>
            <a:srgbClr val="0C2033"/>
          </a:solidFill>
          <a:ln w="12700">
            <a:solidFill>
              <a:srgbClr val="1E3E56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8019288" y="406908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F9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APNEA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8019288" y="4270248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FE7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2400" dirty="0"/>
          </a:p>
        </p:txBody>
      </p:sp>
      <p:sp>
        <p:nvSpPr>
          <p:cNvPr id="29" name="Text 23"/>
          <p:cNvSpPr txBox="1"/>
          <p:nvPr/>
        </p:nvSpPr>
        <p:spPr>
          <a:xfrm>
            <a:off x="8019288" y="4636008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9793224" y="3977640"/>
            <a:ext cx="1591056" cy="868680"/>
          </a:xfrm>
          <a:prstGeom prst="roundRect">
            <a:avLst>
              <a:gd name="adj" fmla="val 8421"/>
            </a:avLst>
          </a:prstGeom>
          <a:solidFill>
            <a:srgbClr val="0C2033"/>
          </a:solidFill>
          <a:ln w="12700">
            <a:solidFill>
              <a:srgbClr val="1E3E56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9793224" y="406908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F9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9793224" y="4270248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FE7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2400" dirty="0"/>
          </a:p>
        </p:txBody>
      </p:sp>
      <p:sp>
        <p:nvSpPr>
          <p:cNvPr id="33" name="Text 27"/>
          <p:cNvSpPr txBox="1"/>
          <p:nvPr/>
        </p:nvSpPr>
        <p:spPr>
          <a:xfrm>
            <a:off x="9793224" y="4636008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950" dirty="0"/>
          </a:p>
        </p:txBody>
      </p:sp>
      <p:sp>
        <p:nvSpPr>
          <p:cNvPr id="34" name="Text 28"/>
          <p:cNvSpPr txBox="1"/>
          <p:nvPr/>
        </p:nvSpPr>
        <p:spPr>
          <a:xfrm>
            <a:off x="6245352" y="50840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9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progress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6245352" y="5321808"/>
            <a:ext cx="5138928" cy="182880"/>
          </a:xfrm>
          <a:prstGeom prst="roundRect">
            <a:avLst>
              <a:gd name="adj" fmla="val 50000"/>
            </a:avLst>
          </a:prstGeom>
          <a:solidFill>
            <a:srgbClr val="0C2033"/>
          </a:solidFill>
          <a:ln/>
        </p:spPr>
      </p:sp>
      <p:sp>
        <p:nvSpPr>
          <p:cNvPr id="36" name="Shape 30"/>
          <p:cNvSpPr/>
          <p:nvPr/>
        </p:nvSpPr>
        <p:spPr>
          <a:xfrm>
            <a:off x="6245352" y="5321808"/>
            <a:ext cx="3186135" cy="182880"/>
          </a:xfrm>
          <a:prstGeom prst="roundRect">
            <a:avLst>
              <a:gd name="adj" fmla="val 50000"/>
            </a:avLst>
          </a:prstGeom>
          <a:solidFill>
            <a:srgbClr val="13A39B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82296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on-board LCD dashboard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10698480" y="64373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89204"/>
            <a:ext cx="237744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deployable edge path for adaptive screening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5532120" cy="3931920"/>
          </a:xfrm>
          <a:prstGeom prst="roundRect">
            <a:avLst>
              <a:gd name="adj" fmla="val 2326"/>
            </a:avLst>
          </a:prstGeom>
          <a:solidFill>
            <a:srgbClr val="F5F8F8"/>
          </a:solidFill>
          <a:ln w="12700">
            <a:solidFill>
              <a:srgbClr val="D8E0E2"/>
            </a:solidFill>
            <a:prstDash val="solid"/>
          </a:ln>
          <a:effectLst>
            <a:outerShdw sx="100000" sy="100000" kx="0" ky="0" algn="bl" rotWithShape="0" blurRad="88900" dist="25400" dir="5400000">
              <a:srgbClr val="C7CFD1">
                <a:alpha val="4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68680" y="20848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5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this project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2651760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715768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5786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runs on a microcontroller — 77 µs, ~2 KB, bit-exact vs host.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914400" y="3438144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502152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336499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Label-free per-session adaptation: +0.035 BA on unseen patients, no labels.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914400" y="4224528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4288536"/>
            <a:ext cx="182880" cy="1828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71600" y="415137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federation: +0.048 BA sharing statistics, not data.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914400" y="5010912"/>
            <a:ext cx="310896" cy="31089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5074920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71600" y="493776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on-board LCD dashboard, flashed and verified on hardware.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6263640" y="1874520"/>
            <a:ext cx="5376672" cy="3931920"/>
          </a:xfrm>
          <a:prstGeom prst="roundRect">
            <a:avLst>
              <a:gd name="adj" fmla="val 2326"/>
            </a:avLst>
          </a:prstGeom>
          <a:solidFill>
            <a:srgbClr val="0F2A43"/>
          </a:solidFill>
          <a:ln w="12700">
            <a:solidFill>
              <a:srgbClr val="D8E0E2"/>
            </a:solidFill>
            <a:prstDash val="solid"/>
          </a:ln>
          <a:effectLst>
            <a:outerShdw sx="100000" sy="100000" kx="0" ky="0" algn="bl" rotWithShape="0" blurRad="88900" dist="25400" dir="5400000">
              <a:srgbClr val="C7CFD1">
                <a:alpha val="45000"/>
              </a:srgbClr>
            </a:outerShdw>
          </a:effectLst>
        </p:spPr>
      </p:sp>
      <p:sp>
        <p:nvSpPr>
          <p:cNvPr id="20" name="Text 13"/>
          <p:cNvSpPr txBox="1"/>
          <p:nvPr/>
        </p:nvSpPr>
        <p:spPr>
          <a:xfrm>
            <a:off x="6903720" y="2084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C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fits</a:t>
            </a:r>
            <a:endParaRPr lang="en-US" sz="17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2679192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995160" y="2615184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D6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  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MCU + a finger SpO₂ sensor — no lab, no cart.</a:t>
            </a:r>
            <a:endParaRPr lang="en-US" sz="14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3465576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995160" y="340156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D6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  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and adaptation stay on-device; only statistics federate.</a:t>
            </a:r>
            <a:endParaRPr lang="en-US" sz="14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4251960"/>
            <a:ext cx="274320" cy="27432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6995160" y="418795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D6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  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per patient every night, and per fleet over time.</a:t>
            </a:r>
            <a:endParaRPr lang="en-US" sz="14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5038344"/>
            <a:ext cx="274320" cy="27432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6995160" y="497433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D6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  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reported with confidence intervals and measured cost.</a:t>
            </a:r>
            <a:endParaRPr lang="en-US" sz="1400" dirty="0"/>
          </a:p>
        </p:txBody>
      </p:sp>
      <p:sp>
        <p:nvSpPr>
          <p:cNvPr id="29" name="Text 18"/>
          <p:cNvSpPr txBox="1"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positioning</a:t>
            </a:r>
            <a:endParaRPr lang="en-US" sz="900" dirty="0"/>
          </a:p>
        </p:txBody>
      </p:sp>
      <p:sp>
        <p:nvSpPr>
          <p:cNvPr id="30" name="Text 19"/>
          <p:cNvSpPr txBox="1"/>
          <p:nvPr/>
        </p:nvSpPr>
        <p:spPr>
          <a:xfrm>
            <a:off x="10698480" y="64373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89204"/>
            <a:ext cx="237744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ROADMAP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scope today — and the path to the clinic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361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show is real and measured. These are the next steps to clinic-readiness, not gaps in the demo.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5F8F8"/>
          </a:solidFill>
          <a:ln w="12700">
            <a:solidFill>
              <a:srgbClr val="D8E0E2"/>
            </a:solidFill>
            <a:prstDash val="solid"/>
          </a:ln>
          <a:effectLst>
            <a:outerShdw sx="100000" sy="100000" kx="0" ky="0" algn="bl" rotWithShape="0" blurRad="88900" dist="25400" dir="5400000">
              <a:srgbClr val="C7CFD1">
                <a:alpha val="4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76856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61872" y="220370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the effect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n = 25, CI lower bound +0.0057 — promising but short of the pre-registered +0.02 bar.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971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→  </a:t>
            </a:r>
            <a:pPr indent="0" marL="0">
              <a:buNone/>
            </a:pPr>
            <a:r>
              <a:rPr lang="en-US" sz="1100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 the cohort to 100–200 subjects.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199632" y="205740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5F8F8"/>
          </a:solidFill>
          <a:ln w="12700">
            <a:solidFill>
              <a:srgbClr val="D8E0E2"/>
            </a:solidFill>
            <a:prstDash val="solid"/>
          </a:ln>
          <a:effectLst>
            <a:outerShdw sx="100000" sy="100000" kx="0" ky="0" algn="bl" rotWithShape="0" blurRad="88900" dist="25400" dir="5400000">
              <a:srgbClr val="C7CFD1">
                <a:alpha val="4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276856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912864" y="220370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AHI scoring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473952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AHI uses a window proxy, which is directionally unresolved.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6473952" y="2971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→  </a:t>
            </a:r>
            <a:pPr indent="0" marL="0">
              <a:buNone/>
            </a:pPr>
            <a:r>
              <a:rPr lang="en-US" sz="1100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real respiratory-event durations.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456432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5F8F8"/>
          </a:solidFill>
          <a:ln w="12700">
            <a:solidFill>
              <a:srgbClr val="D8E0E2"/>
            </a:solidFill>
            <a:prstDash val="solid"/>
          </a:ln>
          <a:effectLst>
            <a:outerShdw sx="100000" sy="100000" kx="0" ky="0" algn="bl" rotWithShape="0" blurRad="88900" dist="25400" dir="5400000">
              <a:srgbClr val="C7CFD1">
                <a:alpha val="4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675888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61872" y="360273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point vs ranking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822960" y="40050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 is at the decision threshold; AUROC (ranking) is unchanged by calibration.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822960" y="43708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→  </a:t>
            </a:r>
            <a:pPr indent="0" marL="0">
              <a:buNone/>
            </a:pPr>
            <a:r>
              <a:rPr lang="en-US" sz="1100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representation gains on top of calibration.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199632" y="3456432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5F8F8"/>
          </a:solidFill>
          <a:ln w="12700">
            <a:solidFill>
              <a:srgbClr val="D8E0E2"/>
            </a:solidFill>
            <a:prstDash val="solid"/>
          </a:ln>
          <a:effectLst>
            <a:outerShdw sx="100000" sy="100000" kx="0" ky="0" algn="bl" rotWithShape="0" blurRad="88900" dist="25400" dir="5400000">
              <a:srgbClr val="C7CFD1">
                <a:alpha val="45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3675888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912864" y="360273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budget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6473952" y="40050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reported as cycles and RAM — no current probe yet.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6473952" y="43708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→  </a:t>
            </a:r>
            <a:pPr indent="0" marL="0">
              <a:buNone/>
            </a:pPr>
            <a:r>
              <a:rPr lang="en-US" sz="1100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inline probe for a joules figure.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48640" y="4855464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5F8F8"/>
          </a:solidFill>
          <a:ln w="12700">
            <a:solidFill>
              <a:srgbClr val="D8E0E2"/>
            </a:solidFill>
            <a:prstDash val="solid"/>
          </a:ln>
          <a:effectLst>
            <a:outerShdw sx="100000" sy="100000" kx="0" ky="0" algn="bl" rotWithShape="0" blurRad="88900" dist="25400" dir="5400000">
              <a:srgbClr val="C7CFD1">
                <a:alpha val="45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074920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261872" y="50017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NPU acceleration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822960" y="540410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Ethos-U55 is present in silicon but unused — inference runs on the CPU.</a:t>
            </a:r>
            <a:endParaRPr lang="en-US" sz="1100" dirty="0"/>
          </a:p>
        </p:txBody>
      </p:sp>
      <p:sp>
        <p:nvSpPr>
          <p:cNvPr id="30" name="Text 22"/>
          <p:cNvSpPr txBox="1"/>
          <p:nvPr/>
        </p:nvSpPr>
        <p:spPr>
          <a:xfrm>
            <a:off x="822960" y="57698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→  </a:t>
            </a:r>
            <a:pPr indent="0" marL="0">
              <a:buNone/>
            </a:pPr>
            <a:r>
              <a:rPr lang="en-US" sz="1100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 inference to the NPU path.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199632" y="4855464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5F8F8"/>
          </a:solidFill>
          <a:ln w="12700">
            <a:solidFill>
              <a:srgbClr val="D8E0E2"/>
            </a:solidFill>
            <a:prstDash val="solid"/>
          </a:ln>
          <a:effectLst>
            <a:outerShdw sx="100000" sy="100000" kx="0" ky="0" algn="bl" rotWithShape="0" blurRad="88900" dist="25400" dir="5400000">
              <a:srgbClr val="C7CFD1">
                <a:alpha val="45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5074920"/>
            <a:ext cx="310896" cy="310896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912864" y="50017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field trial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6473952" y="540410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has been exercised on a session for mechanism, cost and parity.</a:t>
            </a:r>
            <a:endParaRPr lang="en-US" sz="1100" dirty="0"/>
          </a:p>
        </p:txBody>
      </p:sp>
      <p:sp>
        <p:nvSpPr>
          <p:cNvPr id="35" name="Text 26"/>
          <p:cNvSpPr txBox="1"/>
          <p:nvPr/>
        </p:nvSpPr>
        <p:spPr>
          <a:xfrm>
            <a:off x="6473952" y="57698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→  </a:t>
            </a:r>
            <a:pPr indent="0" marL="0">
              <a:buNone/>
            </a:pPr>
            <a:r>
              <a:rPr lang="en-US" sz="1100" dirty="0">
                <a:solidFill>
                  <a:srgbClr val="0A5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multi-device fleet in the field.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roadmap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698480" y="64373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5454183"/>
            <a:ext cx="146304" cy="100797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146304" y="5379238"/>
            <a:ext cx="146304" cy="74946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292608" y="5349365"/>
            <a:ext cx="146304" cy="29873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5349365"/>
            <a:ext cx="146304" cy="388495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5737860"/>
            <a:ext cx="146304" cy="0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731520" y="5540674"/>
            <a:ext cx="146304" cy="197186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5540674"/>
            <a:ext cx="146304" cy="102387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5643061"/>
            <a:ext cx="146304" cy="79797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70432" y="5722858"/>
            <a:ext cx="146304" cy="36742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316736" y="5743864"/>
            <a:ext cx="146304" cy="15736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463040" y="5679685"/>
            <a:ext cx="146304" cy="64179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609344" y="5583524"/>
            <a:ext cx="146304" cy="96161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755648" y="5480042"/>
            <a:ext cx="146304" cy="103482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901952" y="5395779"/>
            <a:ext cx="146304" cy="84263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2048256" y="5352346"/>
            <a:ext cx="146304" cy="43433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5352346"/>
            <a:ext cx="146304" cy="8536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40864" y="5360882"/>
            <a:ext cx="146304" cy="376978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2487168" y="5512337"/>
            <a:ext cx="146304" cy="225523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33472" y="5512337"/>
            <a:ext cx="146304" cy="104076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79776" y="5616413"/>
            <a:ext cx="146304" cy="88320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0" y="5704734"/>
            <a:ext cx="146304" cy="49913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3072384" y="5753352"/>
            <a:ext cx="146304" cy="1295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3218688" y="5701182"/>
            <a:ext cx="146304" cy="52171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3364992" y="5611515"/>
            <a:ext cx="146304" cy="89667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511296" y="5507349"/>
            <a:ext cx="146304" cy="104166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3657600" y="5415399"/>
            <a:ext cx="146304" cy="91950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3803904" y="5359247"/>
            <a:ext cx="146304" cy="56152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3950208" y="5353294"/>
            <a:ext cx="146304" cy="5953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96512" y="5353294"/>
            <a:ext cx="146304" cy="384566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42816" y="5737860"/>
            <a:ext cx="146304" cy="0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4389120" y="5588578"/>
            <a:ext cx="146304" cy="149282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35424" y="5588578"/>
            <a:ext cx="146304" cy="95135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81728" y="5683713"/>
            <a:ext cx="146304" cy="62119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28032" y="5745832"/>
            <a:ext cx="146304" cy="13172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4974336" y="5719851"/>
            <a:ext cx="146304" cy="39153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5120640" y="5638413"/>
            <a:ext cx="146304" cy="81437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5266944" y="5535578"/>
            <a:ext cx="146304" cy="102835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5413248" y="5437719"/>
            <a:ext cx="146304" cy="97859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5559552" y="5369933"/>
            <a:ext cx="146304" cy="67786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5705856" y="5349606"/>
            <a:ext cx="146304" cy="20327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52160" y="5349606"/>
            <a:ext cx="146304" cy="388254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98464" y="5737860"/>
            <a:ext cx="146304" cy="0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6144768" y="5560092"/>
            <a:ext cx="146304" cy="177768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91072" y="5560092"/>
            <a:ext cx="146304" cy="100110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37376" y="5660202"/>
            <a:ext cx="146304" cy="73124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0" y="5733326"/>
            <a:ext cx="146304" cy="27384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6729984" y="5735331"/>
            <a:ext cx="146304" cy="25379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6876288" y="5663698"/>
            <a:ext cx="146304" cy="71633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7022592" y="5564182"/>
            <a:ext cx="146304" cy="99516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7168896" y="5462306"/>
            <a:ext cx="146304" cy="101876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7315200" y="5384198"/>
            <a:ext cx="146304" cy="78108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7461504" y="5349890"/>
            <a:ext cx="146304" cy="34308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07808" y="5349890"/>
            <a:ext cx="146304" cy="387970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54112" y="5737860"/>
            <a:ext cx="146304" cy="0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7900416" y="5531508"/>
            <a:ext cx="146304" cy="206352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46720" y="5531508"/>
            <a:ext cx="146304" cy="103148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93024" y="5634656"/>
            <a:ext cx="146304" cy="82714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39328" y="5717370"/>
            <a:ext cx="146304" cy="41066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8485632" y="5747323"/>
            <a:ext cx="146304" cy="11114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8631936" y="5686879"/>
            <a:ext cx="146304" cy="60443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8778240" y="5592608"/>
            <a:ext cx="146304" cy="94271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8924544" y="5488686"/>
            <a:ext cx="146304" cy="103922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9070848" y="5401767"/>
            <a:ext cx="146304" cy="86919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9217152" y="5354142"/>
            <a:ext cx="146304" cy="47625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363456" y="5354142"/>
            <a:ext cx="146304" cy="3883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509760" y="5358025"/>
            <a:ext cx="146304" cy="379835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656064" y="5737860"/>
            <a:ext cx="146304" cy="0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9802368" y="5607570"/>
            <a:ext cx="146304" cy="130290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948672" y="5607570"/>
            <a:ext cx="146304" cy="90704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94976" y="5698274"/>
            <a:ext cx="146304" cy="53954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241280" y="5752228"/>
            <a:ext cx="146304" cy="3366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10387584" y="5707510"/>
            <a:ext cx="146304" cy="48085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10533888" y="5620306"/>
            <a:ext cx="146304" cy="87203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10680192" y="5516349"/>
            <a:ext cx="146304" cy="103958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10826496" y="5422299"/>
            <a:ext cx="146304" cy="94050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10972800" y="5362277"/>
            <a:ext cx="146304" cy="60022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11119104" y="5351678"/>
            <a:ext cx="146304" cy="10600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265408" y="5351678"/>
            <a:ext cx="146304" cy="386182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411712" y="5737860"/>
            <a:ext cx="146304" cy="0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11558016" y="5579466"/>
            <a:ext cx="146304" cy="158394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704320" y="5579466"/>
            <a:ext cx="146304" cy="96940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850624" y="5676406"/>
            <a:ext cx="146304" cy="65798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996928" y="5742204"/>
            <a:ext cx="146304" cy="17782"/>
          </a:xfrm>
          <a:prstGeom prst="line">
            <a:avLst/>
          </a:prstGeom>
          <a:noFill/>
          <a:ln w="19050">
            <a:solidFill>
              <a:srgbClr val="13A39B">
                <a:alpha val="34000"/>
              </a:srgbClr>
            </a:solidFill>
            <a:prstDash val="solid"/>
          </a:ln>
        </p:spPr>
      </p:sp>
      <p:pic>
        <p:nvPicPr>
          <p:cNvPr id="8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70432"/>
            <a:ext cx="292608" cy="292608"/>
          </a:xfrm>
          <a:prstGeom prst="rect">
            <a:avLst/>
          </a:prstGeom>
        </p:spPr>
      </p:pic>
      <p:sp>
        <p:nvSpPr>
          <p:cNvPr id="86" name="Text 83"/>
          <p:cNvSpPr txBox="1"/>
          <p:nvPr/>
        </p:nvSpPr>
        <p:spPr>
          <a:xfrm>
            <a:off x="1216152" y="12161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200" dirty="0"/>
          </a:p>
        </p:txBody>
      </p:sp>
      <p:sp>
        <p:nvSpPr>
          <p:cNvPr id="87" name="Text 84"/>
          <p:cNvSpPr txBox="1"/>
          <p:nvPr/>
        </p:nvSpPr>
        <p:spPr>
          <a:xfrm>
            <a:off x="777240" y="160020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apnea screening —</a:t>
            </a:r>
            <a:endParaRPr lang="en-US" sz="40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on the device</a:t>
            </a:r>
            <a:endParaRPr lang="en-US" sz="4000" dirty="0"/>
          </a:p>
        </p:txBody>
      </p:sp>
      <p:sp>
        <p:nvSpPr>
          <p:cNvPr id="88" name="Shape 85"/>
          <p:cNvSpPr/>
          <p:nvPr/>
        </p:nvSpPr>
        <p:spPr>
          <a:xfrm>
            <a:off x="822960" y="3429000"/>
            <a:ext cx="2578608" cy="1371600"/>
          </a:xfrm>
          <a:prstGeom prst="roundRect">
            <a:avLst>
              <a:gd name="adj" fmla="val 6667"/>
            </a:avLst>
          </a:prstGeom>
          <a:solidFill>
            <a:srgbClr val="173A5A"/>
          </a:solidFill>
          <a:ln w="12700">
            <a:solidFill>
              <a:srgbClr val="20486B"/>
            </a:solidFill>
            <a:prstDash val="solid"/>
          </a:ln>
        </p:spPr>
      </p:sp>
      <p:pic>
        <p:nvPicPr>
          <p:cNvPr id="8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528" y="3611880"/>
            <a:ext cx="347472" cy="347472"/>
          </a:xfrm>
          <a:prstGeom prst="rect">
            <a:avLst/>
          </a:prstGeom>
        </p:spPr>
      </p:pic>
      <p:sp>
        <p:nvSpPr>
          <p:cNvPr id="90" name="Text 86"/>
          <p:cNvSpPr txBox="1"/>
          <p:nvPr/>
        </p:nvSpPr>
        <p:spPr>
          <a:xfrm>
            <a:off x="822960" y="402336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6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+0.035 BA</a:t>
            </a:r>
            <a:endParaRPr lang="en-US" sz="2100" dirty="0"/>
          </a:p>
        </p:txBody>
      </p:sp>
      <p:sp>
        <p:nvSpPr>
          <p:cNvPr id="91" name="Text 87"/>
          <p:cNvSpPr txBox="1"/>
          <p:nvPr/>
        </p:nvSpPr>
        <p:spPr>
          <a:xfrm>
            <a:off x="914400" y="448056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6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label-free, out-of-sample</a:t>
            </a:r>
            <a:endParaRPr lang="en-US" sz="1100" dirty="0"/>
          </a:p>
        </p:txBody>
      </p:sp>
      <p:sp>
        <p:nvSpPr>
          <p:cNvPr id="92" name="Shape 88"/>
          <p:cNvSpPr/>
          <p:nvPr/>
        </p:nvSpPr>
        <p:spPr>
          <a:xfrm>
            <a:off x="3621024" y="3429000"/>
            <a:ext cx="2578608" cy="1371600"/>
          </a:xfrm>
          <a:prstGeom prst="roundRect">
            <a:avLst>
              <a:gd name="adj" fmla="val 6667"/>
            </a:avLst>
          </a:prstGeom>
          <a:solidFill>
            <a:srgbClr val="173A5A"/>
          </a:solidFill>
          <a:ln w="12700">
            <a:solidFill>
              <a:srgbClr val="20486B"/>
            </a:solidFill>
            <a:prstDash val="solid"/>
          </a:ln>
        </p:spPr>
      </p:sp>
      <p:pic>
        <p:nvPicPr>
          <p:cNvPr id="9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3611880"/>
            <a:ext cx="347472" cy="347472"/>
          </a:xfrm>
          <a:prstGeom prst="rect">
            <a:avLst/>
          </a:prstGeom>
        </p:spPr>
      </p:pic>
      <p:sp>
        <p:nvSpPr>
          <p:cNvPr id="94" name="Text 89"/>
          <p:cNvSpPr txBox="1"/>
          <p:nvPr/>
        </p:nvSpPr>
        <p:spPr>
          <a:xfrm>
            <a:off x="3621024" y="402336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FC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+0.048 BA</a:t>
            </a:r>
            <a:endParaRPr lang="en-US" sz="2100" dirty="0"/>
          </a:p>
        </p:txBody>
      </p:sp>
      <p:sp>
        <p:nvSpPr>
          <p:cNvPr id="95" name="Text 90"/>
          <p:cNvSpPr txBox="1"/>
          <p:nvPr/>
        </p:nvSpPr>
        <p:spPr>
          <a:xfrm>
            <a:off x="3712464" y="448056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6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fleet</a:t>
            </a:r>
            <a:endParaRPr lang="en-US" sz="1100" dirty="0"/>
          </a:p>
        </p:txBody>
      </p:sp>
      <p:sp>
        <p:nvSpPr>
          <p:cNvPr id="96" name="Shape 91"/>
          <p:cNvSpPr/>
          <p:nvPr/>
        </p:nvSpPr>
        <p:spPr>
          <a:xfrm>
            <a:off x="6419088" y="3429000"/>
            <a:ext cx="2578608" cy="1371600"/>
          </a:xfrm>
          <a:prstGeom prst="roundRect">
            <a:avLst>
              <a:gd name="adj" fmla="val 6667"/>
            </a:avLst>
          </a:prstGeom>
          <a:solidFill>
            <a:srgbClr val="173A5A"/>
          </a:solidFill>
          <a:ln w="12700">
            <a:solidFill>
              <a:srgbClr val="20486B"/>
            </a:solidFill>
            <a:prstDash val="solid"/>
          </a:ln>
        </p:spPr>
      </p:sp>
      <p:pic>
        <p:nvPicPr>
          <p:cNvPr id="9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3611880"/>
            <a:ext cx="347472" cy="347472"/>
          </a:xfrm>
          <a:prstGeom prst="rect">
            <a:avLst/>
          </a:prstGeom>
        </p:spPr>
      </p:pic>
      <p:sp>
        <p:nvSpPr>
          <p:cNvPr id="98" name="Text 92"/>
          <p:cNvSpPr txBox="1"/>
          <p:nvPr/>
        </p:nvSpPr>
        <p:spPr>
          <a:xfrm>
            <a:off x="6419088" y="402336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FC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 µs · ~2 KB</a:t>
            </a:r>
            <a:endParaRPr lang="en-US" sz="2100" dirty="0"/>
          </a:p>
        </p:txBody>
      </p:sp>
      <p:sp>
        <p:nvSpPr>
          <p:cNvPr id="99" name="Text 93"/>
          <p:cNvSpPr txBox="1"/>
          <p:nvPr/>
        </p:nvSpPr>
        <p:spPr>
          <a:xfrm>
            <a:off x="6510528" y="448056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6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bit-exact on the MCU</a:t>
            </a:r>
            <a:endParaRPr lang="en-US" sz="1100" dirty="0"/>
          </a:p>
        </p:txBody>
      </p:sp>
      <p:sp>
        <p:nvSpPr>
          <p:cNvPr id="100" name="Shape 94"/>
          <p:cNvSpPr/>
          <p:nvPr/>
        </p:nvSpPr>
        <p:spPr>
          <a:xfrm>
            <a:off x="9217152" y="3429000"/>
            <a:ext cx="2578608" cy="1371600"/>
          </a:xfrm>
          <a:prstGeom prst="roundRect">
            <a:avLst>
              <a:gd name="adj" fmla="val 6667"/>
            </a:avLst>
          </a:prstGeom>
          <a:solidFill>
            <a:srgbClr val="173A5A"/>
          </a:solidFill>
          <a:ln w="12700">
            <a:solidFill>
              <a:srgbClr val="20486B"/>
            </a:solidFill>
            <a:prstDash val="solid"/>
          </a:ln>
        </p:spPr>
      </p:sp>
      <p:pic>
        <p:nvPicPr>
          <p:cNvPr id="10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0" y="3611880"/>
            <a:ext cx="347472" cy="347472"/>
          </a:xfrm>
          <a:prstGeom prst="rect">
            <a:avLst/>
          </a:prstGeom>
        </p:spPr>
      </p:pic>
      <p:sp>
        <p:nvSpPr>
          <p:cNvPr id="102" name="Text 95"/>
          <p:cNvSpPr txBox="1"/>
          <p:nvPr/>
        </p:nvSpPr>
        <p:spPr>
          <a:xfrm>
            <a:off x="9217152" y="402336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FC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LCD</a:t>
            </a:r>
            <a:endParaRPr lang="en-US" sz="2100" dirty="0"/>
          </a:p>
        </p:txBody>
      </p:sp>
      <p:sp>
        <p:nvSpPr>
          <p:cNvPr id="103" name="Text 96"/>
          <p:cNvSpPr txBox="1"/>
          <p:nvPr/>
        </p:nvSpPr>
        <p:spPr>
          <a:xfrm>
            <a:off x="9308592" y="448056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6D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on hardware</a:t>
            </a:r>
            <a:endParaRPr lang="en-US" sz="1100" dirty="0"/>
          </a:p>
        </p:txBody>
      </p:sp>
      <p:sp>
        <p:nvSpPr>
          <p:cNvPr id="104" name="Text 97"/>
          <p:cNvSpPr txBox="1"/>
          <p:nvPr/>
        </p:nvSpPr>
        <p:spPr>
          <a:xfrm>
            <a:off x="822960" y="5074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AFC1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deployable edge path — cheap, private, adaptive. Next: wider cohort, clinical AHI scoring, NPU offload, and a fleet field trial.</a:t>
            </a:r>
            <a:endParaRPr lang="en-US" sz="1450" dirty="0"/>
          </a:p>
        </p:txBody>
      </p:sp>
      <p:sp>
        <p:nvSpPr>
          <p:cNvPr id="105" name="Text 98"/>
          <p:cNvSpPr txBox="1"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/ research prototype — not a clinical device.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2026-09-30T07:40:34Z</dcterms:created>
  <dcterms:modified xsi:type="dcterms:W3CDTF">2026-09-30T07:40:34Z</dcterms:modified>
</cp:coreProperties>
</file>